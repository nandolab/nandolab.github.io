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21602700" cy="32404050"/>
  <p:notesSz cx="6858000" cy="9144000"/>
  <p:defaultTextStyle>
    <a:defPPr>
      <a:defRPr lang="pt-BR"/>
    </a:defPPr>
    <a:lvl1pPr marL="0" algn="l" defTabSz="3086100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1pPr>
    <a:lvl2pPr marL="1543050" algn="l" defTabSz="3086100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2pPr>
    <a:lvl3pPr marL="3086100" algn="l" defTabSz="3086100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3pPr>
    <a:lvl4pPr marL="4629150" algn="l" defTabSz="3086100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4pPr>
    <a:lvl5pPr marL="6172200" algn="l" defTabSz="3086100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5pPr>
    <a:lvl6pPr marL="7715250" algn="l" defTabSz="3086100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6pPr>
    <a:lvl7pPr marL="9258300" algn="l" defTabSz="3086100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7pPr>
    <a:lvl8pPr marL="10801350" algn="l" defTabSz="3086100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8pPr>
    <a:lvl9pPr marL="12344400" algn="l" defTabSz="3086100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25" d="100"/>
          <a:sy n="25" d="100"/>
        </p:scale>
        <p:origin x="-1614" y="192"/>
      </p:cViewPr>
      <p:guideLst>
        <p:guide orient="horz" pos="10206"/>
        <p:guide pos="68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32AC88-F6A0-46A6-B421-10C43BB12134}" type="datetimeFigureOut">
              <a:rPr lang="pt-BR" smtClean="0"/>
              <a:t>02/11/2013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2C3B03-B78C-4F4E-8361-74EE9D2A7A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7725305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1CFBD7-4DF0-4C2E-8A1E-187B46C5AAF2}" type="datetimeFigureOut">
              <a:rPr lang="pt-BR" smtClean="0"/>
              <a:t>02/11/2013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49775-362B-488B-8116-81DBF8DB92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3660977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3086100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1pPr>
    <a:lvl2pPr marL="1543050" algn="l" defTabSz="3086100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2pPr>
    <a:lvl3pPr marL="3086100" algn="l" defTabSz="3086100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3pPr>
    <a:lvl4pPr marL="4629150" algn="l" defTabSz="3086100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4pPr>
    <a:lvl5pPr marL="6172200" algn="l" defTabSz="3086100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5pPr>
    <a:lvl6pPr marL="7715250" algn="l" defTabSz="3086100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6pPr>
    <a:lvl7pPr marL="9258300" algn="l" defTabSz="3086100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7pPr>
    <a:lvl8pPr marL="10801350" algn="l" defTabSz="3086100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8pPr>
    <a:lvl9pPr marL="12344400" algn="l" defTabSz="3086100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9775-362B-488B-8116-81DBF8DB9254}" type="slidenum">
              <a:rPr lang="pt-BR" smtClean="0"/>
              <a:t>1</a:t>
            </a:fld>
            <a:endParaRPr lang="pt-BR"/>
          </a:p>
        </p:txBody>
      </p:sp>
      <p:sp>
        <p:nvSpPr>
          <p:cNvPr id="5" name="Espaço Reservado para Cabeçalho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46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0203" y="10066265"/>
            <a:ext cx="18362295" cy="6945867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240405" y="18362295"/>
            <a:ext cx="15121890" cy="828103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086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629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172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7152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9258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801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234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3BC4B-450D-42F7-A31C-52B2E94B124E}" type="datetimeFigureOut">
              <a:rPr lang="pt-BR" smtClean="0"/>
              <a:t>02/11/2013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9ABE-FA26-470B-AF11-88F9B0EFEF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4120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3BC4B-450D-42F7-A31C-52B2E94B124E}" type="datetimeFigureOut">
              <a:rPr lang="pt-BR" smtClean="0"/>
              <a:t>02/11/2013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9ABE-FA26-470B-AF11-88F9B0EFEF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455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06465" y="20822604"/>
            <a:ext cx="18362295" cy="6435804"/>
          </a:xfrm>
        </p:spPr>
        <p:txBody>
          <a:bodyPr anchor="t"/>
          <a:lstStyle>
            <a:lvl1pPr algn="l">
              <a:defRPr sz="135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706465" y="13734223"/>
            <a:ext cx="18362295" cy="7088382"/>
          </a:xfrm>
        </p:spPr>
        <p:txBody>
          <a:bodyPr anchor="b"/>
          <a:lstStyle>
            <a:lvl1pPr marL="0" indent="0">
              <a:buNone/>
              <a:defRPr sz="6800">
                <a:solidFill>
                  <a:schemeClr val="tx1">
                    <a:tint val="75000"/>
                  </a:schemeClr>
                </a:solidFill>
              </a:defRPr>
            </a:lvl1pPr>
            <a:lvl2pPr marL="1543050" indent="0">
              <a:buNone/>
              <a:defRPr sz="6100">
                <a:solidFill>
                  <a:schemeClr val="tx1">
                    <a:tint val="75000"/>
                  </a:schemeClr>
                </a:solidFill>
              </a:defRPr>
            </a:lvl2pPr>
            <a:lvl3pPr marL="308610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3pPr>
            <a:lvl4pPr marL="4629150" indent="0">
              <a:buNone/>
              <a:defRPr sz="4700">
                <a:solidFill>
                  <a:schemeClr val="tx1">
                    <a:tint val="75000"/>
                  </a:schemeClr>
                </a:solidFill>
              </a:defRPr>
            </a:lvl4pPr>
            <a:lvl5pPr marL="6172200" indent="0">
              <a:buNone/>
              <a:defRPr sz="4700">
                <a:solidFill>
                  <a:schemeClr val="tx1">
                    <a:tint val="75000"/>
                  </a:schemeClr>
                </a:solidFill>
              </a:defRPr>
            </a:lvl5pPr>
            <a:lvl6pPr marL="7715250" indent="0">
              <a:buNone/>
              <a:defRPr sz="4700">
                <a:solidFill>
                  <a:schemeClr val="tx1">
                    <a:tint val="75000"/>
                  </a:schemeClr>
                </a:solidFill>
              </a:defRPr>
            </a:lvl6pPr>
            <a:lvl7pPr marL="9258300" indent="0">
              <a:buNone/>
              <a:defRPr sz="4700">
                <a:solidFill>
                  <a:schemeClr val="tx1">
                    <a:tint val="75000"/>
                  </a:schemeClr>
                </a:solidFill>
              </a:defRPr>
            </a:lvl7pPr>
            <a:lvl8pPr marL="10801350" indent="0">
              <a:buNone/>
              <a:defRPr sz="4700">
                <a:solidFill>
                  <a:schemeClr val="tx1">
                    <a:tint val="75000"/>
                  </a:schemeClr>
                </a:solidFill>
              </a:defRPr>
            </a:lvl8pPr>
            <a:lvl9pPr marL="12344400" indent="0">
              <a:buNone/>
              <a:defRPr sz="4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3BC4B-450D-42F7-A31C-52B2E94B124E}" type="datetimeFigureOut">
              <a:rPr lang="pt-BR" smtClean="0"/>
              <a:t>02/11/2013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9ABE-FA26-470B-AF11-88F9B0EFEF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391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80135" y="7560950"/>
            <a:ext cx="9541193" cy="21385174"/>
          </a:xfrm>
        </p:spPr>
        <p:txBody>
          <a:bodyPr/>
          <a:lstStyle>
            <a:lvl1pPr>
              <a:defRPr sz="9500"/>
            </a:lvl1pPr>
            <a:lvl2pPr>
              <a:defRPr sz="8100"/>
            </a:lvl2pPr>
            <a:lvl3pPr>
              <a:defRPr sz="6800"/>
            </a:lvl3pPr>
            <a:lvl4pPr>
              <a:defRPr sz="6100"/>
            </a:lvl4pPr>
            <a:lvl5pPr>
              <a:defRPr sz="6100"/>
            </a:lvl5pPr>
            <a:lvl6pPr>
              <a:defRPr sz="6100"/>
            </a:lvl6pPr>
            <a:lvl7pPr>
              <a:defRPr sz="6100"/>
            </a:lvl7pPr>
            <a:lvl8pPr>
              <a:defRPr sz="6100"/>
            </a:lvl8pPr>
            <a:lvl9pPr>
              <a:defRPr sz="61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81372" y="7560950"/>
            <a:ext cx="9541193" cy="21385174"/>
          </a:xfrm>
        </p:spPr>
        <p:txBody>
          <a:bodyPr/>
          <a:lstStyle>
            <a:lvl1pPr>
              <a:defRPr sz="9500"/>
            </a:lvl1pPr>
            <a:lvl2pPr>
              <a:defRPr sz="8100"/>
            </a:lvl2pPr>
            <a:lvl3pPr>
              <a:defRPr sz="6800"/>
            </a:lvl3pPr>
            <a:lvl4pPr>
              <a:defRPr sz="6100"/>
            </a:lvl4pPr>
            <a:lvl5pPr>
              <a:defRPr sz="6100"/>
            </a:lvl5pPr>
            <a:lvl6pPr>
              <a:defRPr sz="6100"/>
            </a:lvl6pPr>
            <a:lvl7pPr>
              <a:defRPr sz="6100"/>
            </a:lvl7pPr>
            <a:lvl8pPr>
              <a:defRPr sz="6100"/>
            </a:lvl8pPr>
            <a:lvl9pPr>
              <a:defRPr sz="61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3BC4B-450D-42F7-A31C-52B2E94B124E}" type="datetimeFigureOut">
              <a:rPr lang="pt-BR" smtClean="0"/>
              <a:t>02/11/2013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9ABE-FA26-470B-AF11-88F9B0EFEF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263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80137" y="7253408"/>
            <a:ext cx="9544944" cy="3022875"/>
          </a:xfrm>
        </p:spPr>
        <p:txBody>
          <a:bodyPr anchor="b"/>
          <a:lstStyle>
            <a:lvl1pPr marL="0" indent="0">
              <a:buNone/>
              <a:defRPr sz="8100" b="1"/>
            </a:lvl1pPr>
            <a:lvl2pPr marL="1543050" indent="0">
              <a:buNone/>
              <a:defRPr sz="6800" b="1"/>
            </a:lvl2pPr>
            <a:lvl3pPr marL="3086100" indent="0">
              <a:buNone/>
              <a:defRPr sz="6100" b="1"/>
            </a:lvl3pPr>
            <a:lvl4pPr marL="4629150" indent="0">
              <a:buNone/>
              <a:defRPr sz="5400" b="1"/>
            </a:lvl4pPr>
            <a:lvl5pPr marL="6172200" indent="0">
              <a:buNone/>
              <a:defRPr sz="5400" b="1"/>
            </a:lvl5pPr>
            <a:lvl6pPr marL="7715250" indent="0">
              <a:buNone/>
              <a:defRPr sz="5400" b="1"/>
            </a:lvl6pPr>
            <a:lvl7pPr marL="9258300" indent="0">
              <a:buNone/>
              <a:defRPr sz="5400" b="1"/>
            </a:lvl7pPr>
            <a:lvl8pPr marL="10801350" indent="0">
              <a:buNone/>
              <a:defRPr sz="5400" b="1"/>
            </a:lvl8pPr>
            <a:lvl9pPr marL="12344400" indent="0">
              <a:buNone/>
              <a:defRPr sz="54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80137" y="10276283"/>
            <a:ext cx="9544944" cy="18669836"/>
          </a:xfrm>
        </p:spPr>
        <p:txBody>
          <a:bodyPr/>
          <a:lstStyle>
            <a:lvl1pPr>
              <a:defRPr sz="8100"/>
            </a:lvl1pPr>
            <a:lvl2pPr>
              <a:defRPr sz="6800"/>
            </a:lvl2pPr>
            <a:lvl3pPr>
              <a:defRPr sz="6100"/>
            </a:lvl3pPr>
            <a:lvl4pPr>
              <a:defRPr sz="5400"/>
            </a:lvl4pPr>
            <a:lvl5pPr>
              <a:defRPr sz="5400"/>
            </a:lvl5pPr>
            <a:lvl6pPr>
              <a:defRPr sz="5400"/>
            </a:lvl6pPr>
            <a:lvl7pPr>
              <a:defRPr sz="5400"/>
            </a:lvl7pPr>
            <a:lvl8pPr>
              <a:defRPr sz="5400"/>
            </a:lvl8pPr>
            <a:lvl9pPr>
              <a:defRPr sz="54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0973874" y="7253408"/>
            <a:ext cx="9548693" cy="3022875"/>
          </a:xfrm>
        </p:spPr>
        <p:txBody>
          <a:bodyPr anchor="b"/>
          <a:lstStyle>
            <a:lvl1pPr marL="0" indent="0">
              <a:buNone/>
              <a:defRPr sz="8100" b="1"/>
            </a:lvl1pPr>
            <a:lvl2pPr marL="1543050" indent="0">
              <a:buNone/>
              <a:defRPr sz="6800" b="1"/>
            </a:lvl2pPr>
            <a:lvl3pPr marL="3086100" indent="0">
              <a:buNone/>
              <a:defRPr sz="6100" b="1"/>
            </a:lvl3pPr>
            <a:lvl4pPr marL="4629150" indent="0">
              <a:buNone/>
              <a:defRPr sz="5400" b="1"/>
            </a:lvl4pPr>
            <a:lvl5pPr marL="6172200" indent="0">
              <a:buNone/>
              <a:defRPr sz="5400" b="1"/>
            </a:lvl5pPr>
            <a:lvl6pPr marL="7715250" indent="0">
              <a:buNone/>
              <a:defRPr sz="5400" b="1"/>
            </a:lvl6pPr>
            <a:lvl7pPr marL="9258300" indent="0">
              <a:buNone/>
              <a:defRPr sz="5400" b="1"/>
            </a:lvl7pPr>
            <a:lvl8pPr marL="10801350" indent="0">
              <a:buNone/>
              <a:defRPr sz="5400" b="1"/>
            </a:lvl8pPr>
            <a:lvl9pPr marL="12344400" indent="0">
              <a:buNone/>
              <a:defRPr sz="54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0973874" y="10276283"/>
            <a:ext cx="9548693" cy="18669836"/>
          </a:xfrm>
        </p:spPr>
        <p:txBody>
          <a:bodyPr/>
          <a:lstStyle>
            <a:lvl1pPr>
              <a:defRPr sz="8100"/>
            </a:lvl1pPr>
            <a:lvl2pPr>
              <a:defRPr sz="6800"/>
            </a:lvl2pPr>
            <a:lvl3pPr>
              <a:defRPr sz="6100"/>
            </a:lvl3pPr>
            <a:lvl4pPr>
              <a:defRPr sz="5400"/>
            </a:lvl4pPr>
            <a:lvl5pPr>
              <a:defRPr sz="5400"/>
            </a:lvl5pPr>
            <a:lvl6pPr>
              <a:defRPr sz="5400"/>
            </a:lvl6pPr>
            <a:lvl7pPr>
              <a:defRPr sz="5400"/>
            </a:lvl7pPr>
            <a:lvl8pPr>
              <a:defRPr sz="5400"/>
            </a:lvl8pPr>
            <a:lvl9pPr>
              <a:defRPr sz="54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3BC4B-450D-42F7-A31C-52B2E94B124E}" type="datetimeFigureOut">
              <a:rPr lang="pt-BR" smtClean="0"/>
              <a:t>02/11/2013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9ABE-FA26-470B-AF11-88F9B0EFEF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7505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3BC4B-450D-42F7-A31C-52B2E94B124E}" type="datetimeFigureOut">
              <a:rPr lang="pt-BR" smtClean="0"/>
              <a:t>02/11/2013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9ABE-FA26-470B-AF11-88F9B0EFEF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549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3BC4B-450D-42F7-A31C-52B2E94B124E}" type="datetimeFigureOut">
              <a:rPr lang="pt-BR" smtClean="0"/>
              <a:t>02/11/2013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9ABE-FA26-470B-AF11-88F9B0EFEF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2166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80137" y="1290163"/>
            <a:ext cx="7107140" cy="5490686"/>
          </a:xfrm>
        </p:spPr>
        <p:txBody>
          <a:bodyPr anchor="b"/>
          <a:lstStyle>
            <a:lvl1pPr algn="l">
              <a:defRPr sz="68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446056" y="1290164"/>
            <a:ext cx="12076511" cy="27655960"/>
          </a:xfrm>
        </p:spPr>
        <p:txBody>
          <a:bodyPr/>
          <a:lstStyle>
            <a:lvl1pPr>
              <a:defRPr sz="10800"/>
            </a:lvl1pPr>
            <a:lvl2pPr>
              <a:defRPr sz="9500"/>
            </a:lvl2pPr>
            <a:lvl3pPr>
              <a:defRPr sz="8100"/>
            </a:lvl3pPr>
            <a:lvl4pPr>
              <a:defRPr sz="6800"/>
            </a:lvl4pPr>
            <a:lvl5pPr>
              <a:defRPr sz="6800"/>
            </a:lvl5pPr>
            <a:lvl6pPr>
              <a:defRPr sz="6800"/>
            </a:lvl6pPr>
            <a:lvl7pPr>
              <a:defRPr sz="6800"/>
            </a:lvl7pPr>
            <a:lvl8pPr>
              <a:defRPr sz="6800"/>
            </a:lvl8pPr>
            <a:lvl9pPr>
              <a:defRPr sz="6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80137" y="6780850"/>
            <a:ext cx="7107140" cy="22165274"/>
          </a:xfrm>
        </p:spPr>
        <p:txBody>
          <a:bodyPr/>
          <a:lstStyle>
            <a:lvl1pPr marL="0" indent="0">
              <a:buNone/>
              <a:defRPr sz="4700"/>
            </a:lvl1pPr>
            <a:lvl2pPr marL="1543050" indent="0">
              <a:buNone/>
              <a:defRPr sz="4100"/>
            </a:lvl2pPr>
            <a:lvl3pPr marL="3086100" indent="0">
              <a:buNone/>
              <a:defRPr sz="3400"/>
            </a:lvl3pPr>
            <a:lvl4pPr marL="4629150" indent="0">
              <a:buNone/>
              <a:defRPr sz="3000"/>
            </a:lvl4pPr>
            <a:lvl5pPr marL="6172200" indent="0">
              <a:buNone/>
              <a:defRPr sz="3000"/>
            </a:lvl5pPr>
            <a:lvl6pPr marL="7715250" indent="0">
              <a:buNone/>
              <a:defRPr sz="3000"/>
            </a:lvl6pPr>
            <a:lvl7pPr marL="9258300" indent="0">
              <a:buNone/>
              <a:defRPr sz="3000"/>
            </a:lvl7pPr>
            <a:lvl8pPr marL="10801350" indent="0">
              <a:buNone/>
              <a:defRPr sz="3000"/>
            </a:lvl8pPr>
            <a:lvl9pPr marL="12344400" indent="0">
              <a:buNone/>
              <a:defRPr sz="3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3BC4B-450D-42F7-A31C-52B2E94B124E}" type="datetimeFigureOut">
              <a:rPr lang="pt-BR" smtClean="0"/>
              <a:t>02/11/2013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9ABE-FA26-470B-AF11-88F9B0EFEF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54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34280" y="22682837"/>
            <a:ext cx="12961620" cy="2677838"/>
          </a:xfrm>
        </p:spPr>
        <p:txBody>
          <a:bodyPr anchor="b"/>
          <a:lstStyle>
            <a:lvl1pPr algn="l">
              <a:defRPr sz="68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234280" y="2895361"/>
            <a:ext cx="12961620" cy="19442430"/>
          </a:xfrm>
        </p:spPr>
        <p:txBody>
          <a:bodyPr/>
          <a:lstStyle>
            <a:lvl1pPr marL="0" indent="0">
              <a:buNone/>
              <a:defRPr sz="10800"/>
            </a:lvl1pPr>
            <a:lvl2pPr marL="1543050" indent="0">
              <a:buNone/>
              <a:defRPr sz="9500"/>
            </a:lvl2pPr>
            <a:lvl3pPr marL="3086100" indent="0">
              <a:buNone/>
              <a:defRPr sz="8100"/>
            </a:lvl3pPr>
            <a:lvl4pPr marL="4629150" indent="0">
              <a:buNone/>
              <a:defRPr sz="6800"/>
            </a:lvl4pPr>
            <a:lvl5pPr marL="6172200" indent="0">
              <a:buNone/>
              <a:defRPr sz="6800"/>
            </a:lvl5pPr>
            <a:lvl6pPr marL="7715250" indent="0">
              <a:buNone/>
              <a:defRPr sz="6800"/>
            </a:lvl6pPr>
            <a:lvl7pPr marL="9258300" indent="0">
              <a:buNone/>
              <a:defRPr sz="6800"/>
            </a:lvl7pPr>
            <a:lvl8pPr marL="10801350" indent="0">
              <a:buNone/>
              <a:defRPr sz="6800"/>
            </a:lvl8pPr>
            <a:lvl9pPr marL="12344400" indent="0">
              <a:buNone/>
              <a:defRPr sz="68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234280" y="25360675"/>
            <a:ext cx="12961620" cy="3802972"/>
          </a:xfrm>
        </p:spPr>
        <p:txBody>
          <a:bodyPr/>
          <a:lstStyle>
            <a:lvl1pPr marL="0" indent="0">
              <a:buNone/>
              <a:defRPr sz="4700"/>
            </a:lvl1pPr>
            <a:lvl2pPr marL="1543050" indent="0">
              <a:buNone/>
              <a:defRPr sz="4100"/>
            </a:lvl2pPr>
            <a:lvl3pPr marL="3086100" indent="0">
              <a:buNone/>
              <a:defRPr sz="3400"/>
            </a:lvl3pPr>
            <a:lvl4pPr marL="4629150" indent="0">
              <a:buNone/>
              <a:defRPr sz="3000"/>
            </a:lvl4pPr>
            <a:lvl5pPr marL="6172200" indent="0">
              <a:buNone/>
              <a:defRPr sz="3000"/>
            </a:lvl5pPr>
            <a:lvl6pPr marL="7715250" indent="0">
              <a:buNone/>
              <a:defRPr sz="3000"/>
            </a:lvl6pPr>
            <a:lvl7pPr marL="9258300" indent="0">
              <a:buNone/>
              <a:defRPr sz="3000"/>
            </a:lvl7pPr>
            <a:lvl8pPr marL="10801350" indent="0">
              <a:buNone/>
              <a:defRPr sz="3000"/>
            </a:lvl8pPr>
            <a:lvl9pPr marL="12344400" indent="0">
              <a:buNone/>
              <a:defRPr sz="3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3BC4B-450D-42F7-A31C-52B2E94B124E}" type="datetimeFigureOut">
              <a:rPr lang="pt-BR" smtClean="0"/>
              <a:t>02/11/2013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9ABE-FA26-470B-AF11-88F9B0EFEF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2816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3BC4B-450D-42F7-A31C-52B2E94B124E}" type="datetimeFigureOut">
              <a:rPr lang="pt-BR" smtClean="0"/>
              <a:t>02/11/2013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9ABE-FA26-470B-AF11-88F9B0EFEF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9423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5661957" y="1297670"/>
            <a:ext cx="4860608" cy="27648454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080135" y="1297670"/>
            <a:ext cx="14221778" cy="27648454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3BC4B-450D-42F7-A31C-52B2E94B124E}" type="datetimeFigureOut">
              <a:rPr lang="pt-BR" smtClean="0"/>
              <a:t>02/11/2013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9ABE-FA26-470B-AF11-88F9B0EFEF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1303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80135" y="1297665"/>
            <a:ext cx="19442430" cy="5400675"/>
          </a:xfrm>
          <a:prstGeom prst="rect">
            <a:avLst/>
          </a:prstGeom>
        </p:spPr>
        <p:txBody>
          <a:bodyPr vert="horz" lIns="308610" tIns="154305" rIns="308610" bIns="154305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80135" y="7560950"/>
            <a:ext cx="19442430" cy="21385174"/>
          </a:xfrm>
          <a:prstGeom prst="rect">
            <a:avLst/>
          </a:prstGeom>
        </p:spPr>
        <p:txBody>
          <a:bodyPr vert="horz" lIns="308610" tIns="154305" rIns="308610" bIns="154305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080135" y="30033758"/>
            <a:ext cx="5040630" cy="1725214"/>
          </a:xfrm>
          <a:prstGeom prst="rect">
            <a:avLst/>
          </a:prstGeom>
        </p:spPr>
        <p:txBody>
          <a:bodyPr vert="horz" lIns="308610" tIns="154305" rIns="308610" bIns="154305" rtlCol="0" anchor="ctr"/>
          <a:lstStyle>
            <a:lvl1pPr algn="l">
              <a:defRPr sz="4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3BC4B-450D-42F7-A31C-52B2E94B124E}" type="datetimeFigureOut">
              <a:rPr lang="pt-BR" smtClean="0"/>
              <a:t>02/11/2013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7380923" y="30033758"/>
            <a:ext cx="6840855" cy="1725214"/>
          </a:xfrm>
          <a:prstGeom prst="rect">
            <a:avLst/>
          </a:prstGeom>
        </p:spPr>
        <p:txBody>
          <a:bodyPr vert="horz" lIns="308610" tIns="154305" rIns="308610" bIns="154305" rtlCol="0" anchor="ctr"/>
          <a:lstStyle>
            <a:lvl1pPr algn="ctr">
              <a:defRPr sz="4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5481935" y="30033758"/>
            <a:ext cx="5040630" cy="1725214"/>
          </a:xfrm>
          <a:prstGeom prst="rect">
            <a:avLst/>
          </a:prstGeom>
        </p:spPr>
        <p:txBody>
          <a:bodyPr vert="horz" lIns="308610" tIns="154305" rIns="308610" bIns="154305" rtlCol="0" anchor="ctr"/>
          <a:lstStyle>
            <a:lvl1pPr algn="r">
              <a:defRPr sz="4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19ABE-FA26-470B-AF11-88F9B0EFEF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318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086100" rtl="0" eaLnBrk="1" latinLnBrk="0" hangingPunct="1">
        <a:spcBef>
          <a:spcPct val="0"/>
        </a:spcBef>
        <a:buNone/>
        <a:defRPr sz="1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57288" indent="-1157288" algn="l" defTabSz="30861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0800" kern="1200">
          <a:solidFill>
            <a:schemeClr val="tx1"/>
          </a:solidFill>
          <a:latin typeface="+mn-lt"/>
          <a:ea typeface="+mn-ea"/>
          <a:cs typeface="+mn-cs"/>
        </a:defRPr>
      </a:lvl1pPr>
      <a:lvl2pPr marL="2507456" indent="-964406" algn="l" defTabSz="3086100" rtl="0" eaLnBrk="1" latinLnBrk="0" hangingPunct="1">
        <a:spcBef>
          <a:spcPct val="20000"/>
        </a:spcBef>
        <a:buFont typeface="Arial" panose="020B0604020202020204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25" indent="-771525" algn="l" defTabSz="3086100" rtl="0" eaLnBrk="1" latinLnBrk="0" hangingPunct="1">
        <a:spcBef>
          <a:spcPct val="20000"/>
        </a:spcBef>
        <a:buFont typeface="Arial" panose="020B0604020202020204" pitchFamily="34" charset="0"/>
        <a:buChar char="•"/>
        <a:defRPr sz="81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675" indent="-771525" algn="l" defTabSz="3086100" rtl="0" eaLnBrk="1" latinLnBrk="0" hangingPunct="1">
        <a:spcBef>
          <a:spcPct val="20000"/>
        </a:spcBef>
        <a:buFont typeface="Arial" panose="020B0604020202020204" pitchFamily="34" charset="0"/>
        <a:buChar char="–"/>
        <a:defRPr sz="6800" kern="1200">
          <a:solidFill>
            <a:schemeClr val="tx1"/>
          </a:solidFill>
          <a:latin typeface="+mn-lt"/>
          <a:ea typeface="+mn-ea"/>
          <a:cs typeface="+mn-cs"/>
        </a:defRPr>
      </a:lvl4pPr>
      <a:lvl5pPr marL="6943725" indent="-771525" algn="l" defTabSz="3086100" rtl="0" eaLnBrk="1" latinLnBrk="0" hangingPunct="1">
        <a:spcBef>
          <a:spcPct val="20000"/>
        </a:spcBef>
        <a:buFont typeface="Arial" panose="020B0604020202020204" pitchFamily="34" charset="0"/>
        <a:buChar char="»"/>
        <a:defRPr sz="6800" kern="1200">
          <a:solidFill>
            <a:schemeClr val="tx1"/>
          </a:solidFill>
          <a:latin typeface="+mn-lt"/>
          <a:ea typeface="+mn-ea"/>
          <a:cs typeface="+mn-cs"/>
        </a:defRPr>
      </a:lvl5pPr>
      <a:lvl6pPr marL="8486775" indent="-771525" algn="l" defTabSz="3086100" rtl="0" eaLnBrk="1" latinLnBrk="0" hangingPunct="1">
        <a:spcBef>
          <a:spcPct val="20000"/>
        </a:spcBef>
        <a:buFont typeface="Arial" panose="020B0604020202020204" pitchFamily="34" charset="0"/>
        <a:buChar char="•"/>
        <a:defRPr sz="6800" kern="1200">
          <a:solidFill>
            <a:schemeClr val="tx1"/>
          </a:solidFill>
          <a:latin typeface="+mn-lt"/>
          <a:ea typeface="+mn-ea"/>
          <a:cs typeface="+mn-cs"/>
        </a:defRPr>
      </a:lvl6pPr>
      <a:lvl7pPr marL="10029825" indent="-771525" algn="l" defTabSz="3086100" rtl="0" eaLnBrk="1" latinLnBrk="0" hangingPunct="1">
        <a:spcBef>
          <a:spcPct val="20000"/>
        </a:spcBef>
        <a:buFont typeface="Arial" panose="020B0604020202020204" pitchFamily="34" charset="0"/>
        <a:buChar char="•"/>
        <a:defRPr sz="6800" kern="1200">
          <a:solidFill>
            <a:schemeClr val="tx1"/>
          </a:solidFill>
          <a:latin typeface="+mn-lt"/>
          <a:ea typeface="+mn-ea"/>
          <a:cs typeface="+mn-cs"/>
        </a:defRPr>
      </a:lvl7pPr>
      <a:lvl8pPr marL="11572875" indent="-771525" algn="l" defTabSz="3086100" rtl="0" eaLnBrk="1" latinLnBrk="0" hangingPunct="1">
        <a:spcBef>
          <a:spcPct val="20000"/>
        </a:spcBef>
        <a:buFont typeface="Arial" panose="020B0604020202020204" pitchFamily="34" charset="0"/>
        <a:buChar char="•"/>
        <a:defRPr sz="6800" kern="1200">
          <a:solidFill>
            <a:schemeClr val="tx1"/>
          </a:solidFill>
          <a:latin typeface="+mn-lt"/>
          <a:ea typeface="+mn-ea"/>
          <a:cs typeface="+mn-cs"/>
        </a:defRPr>
      </a:lvl8pPr>
      <a:lvl9pPr marL="13115925" indent="-771525" algn="l" defTabSz="3086100" rtl="0" eaLnBrk="1" latinLnBrk="0" hangingPunct="1">
        <a:spcBef>
          <a:spcPct val="20000"/>
        </a:spcBef>
        <a:buFont typeface="Arial" panose="020B0604020202020204" pitchFamily="34" charset="0"/>
        <a:buChar char="•"/>
        <a:defRPr sz="6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3086100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1pPr>
      <a:lvl2pPr marL="1543050" algn="l" defTabSz="3086100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2pPr>
      <a:lvl3pPr marL="3086100" algn="l" defTabSz="3086100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3pPr>
      <a:lvl4pPr marL="4629150" algn="l" defTabSz="3086100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algn="l" defTabSz="3086100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5pPr>
      <a:lvl6pPr marL="7715250" algn="l" defTabSz="3086100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6pPr>
      <a:lvl7pPr marL="9258300" algn="l" defTabSz="3086100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7pPr>
      <a:lvl8pPr marL="10801350" algn="l" defTabSz="3086100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0" algn="l" defTabSz="3086100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80135" y="1512392"/>
            <a:ext cx="19442430" cy="2088233"/>
          </a:xfrm>
        </p:spPr>
        <p:txBody>
          <a:bodyPr>
            <a:normAutofit fontScale="90000"/>
          </a:bodyPr>
          <a:lstStyle/>
          <a:p>
            <a:r>
              <a:rPr lang="pt-BR" sz="6700" dirty="0"/>
              <a:t>DETERMINANTES DO INVESTIMENTO ESTRANGEIRO DIRETO</a:t>
            </a:r>
            <a:br>
              <a:rPr lang="pt-BR" sz="6700" dirty="0"/>
            </a:br>
            <a:r>
              <a:rPr lang="pt-BR" sz="6700" dirty="0"/>
              <a:t>NO BRASIL NO PERÍODO DE 1995 A </a:t>
            </a:r>
            <a:r>
              <a:rPr lang="pt-BR" sz="6700" dirty="0" smtClean="0"/>
              <a:t>2010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768615" y="4579121"/>
            <a:ext cx="9541193" cy="2448272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. Resultados</a:t>
            </a:r>
          </a:p>
          <a:p>
            <a:pPr marL="0" indent="0">
              <a:buNone/>
            </a:pP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Resposta a Impulsos – Primeiro Modelo</a:t>
            </a:r>
          </a:p>
          <a:p>
            <a:pPr marL="0" indent="0" algn="just">
              <a:buNone/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A resposta do IDE a impulsos das variáveis taxa SELIC, Abertura e IPCA permanece relativamente estável nos períodos analisados. Há maior variação de sua resposta às variáveis Dow Jones, PIB e do próprio IDE.</a:t>
            </a:r>
          </a:p>
          <a:p>
            <a:pPr marL="0" indent="0" algn="just"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Decomposição da variância dos erros</a:t>
            </a: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A análise da decomposição da variância dos erros revela a importância relativa de cada variável ao longo dos períodos de defasagem na explicação dos determinantes do IED. Pode-se observar que o IED apresenta total independência das outras variáveis no primeiro mês após o choque, o índice Dow Jones é o que atinge maior influência sobre o IED. As outras variáveis aumentam sua influência a partir do sexto período, de forma relativamente mais expressiva.		</a:t>
            </a:r>
          </a:p>
          <a:p>
            <a:pPr marL="0" indent="0" algn="just"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Resposta a Impulsos – Segundo Modelo</a:t>
            </a:r>
          </a:p>
          <a:p>
            <a:pPr marL="0" indent="0" algn="just">
              <a:buNone/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Nota-se que o IED responde positivamente ao FED_FUNDS, assumindo um comportamento consideravelmente estável. Quanto ao EMBI, a resposta imediata do IED é de alta, a qual é suavizada ao longo dos períodos até retomar uma estabilidade relativa.  </a:t>
            </a:r>
          </a:p>
          <a:p>
            <a:pPr marL="0" indent="0" algn="just">
              <a:buNone/>
            </a:pPr>
            <a:endParaRPr lang="pt-BR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Decomposição da variância dos erros</a:t>
            </a: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Apesar da inclusão das variáveis EMBI e FED_FUNDS, o IED ainda responde totalmente pelo choque do primeiro período. Contudo, essas mesmas inclusões são responsáveis por, respectivamente, o segundo (1,28%) e primeiro lugar (1,49%) no decorrer dos períodos. Observa-se uma diminuição da participação do índice Dow Jones em comparação ao primeiro modelo estimado. Esses resultados corroboram a proposta de Francisco C. C. </a:t>
            </a:r>
            <a:r>
              <a:rPr lang="pt-B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Cassuce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, Leonardo B. de Mattos e Antônio C. Campos, quanto às variáveis risco-Brasil e Grau de Abertura.</a:t>
            </a:r>
          </a:p>
          <a:p>
            <a:pPr marL="0" indent="0" algn="just">
              <a:buNone/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marL="0" indent="0"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5. Considerações Finais</a:t>
            </a:r>
          </a:p>
          <a:p>
            <a:pPr marL="0" indent="0">
              <a:buNone/>
            </a:pPr>
            <a:endParaRPr lang="pt-BR" dirty="0" smtClean="0"/>
          </a:p>
          <a:p>
            <a:pPr marL="0" indent="0" algn="just">
              <a:buNone/>
            </a:pPr>
            <a:r>
              <a:rPr lang="pt-BR" sz="9600" dirty="0">
                <a:latin typeface="Arial" panose="020B0604020202020204" pitchFamily="34" charset="0"/>
                <a:cs typeface="Arial" panose="020B0604020202020204" pitchFamily="34" charset="0"/>
              </a:rPr>
              <a:t>No primeiro modelo proposto, o IED respondeu positivamente </a:t>
            </a:r>
            <a:r>
              <a:rPr lang="pt-BR" sz="9600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pt-BR" sz="9600" dirty="0">
                <a:latin typeface="Arial" panose="020B0604020202020204" pitchFamily="34" charset="0"/>
                <a:cs typeface="Arial" panose="020B0604020202020204" pitchFamily="34" charset="0"/>
              </a:rPr>
              <a:t>impulsos do índice Dow Jones - o </a:t>
            </a:r>
            <a:r>
              <a:rPr lang="pt-BR" sz="9600" dirty="0" smtClean="0">
                <a:latin typeface="Arial" panose="020B0604020202020204" pitchFamily="34" charset="0"/>
                <a:cs typeface="Arial" panose="020B0604020202020204" pitchFamily="34" charset="0"/>
              </a:rPr>
              <a:t>qual </a:t>
            </a:r>
            <a:r>
              <a:rPr lang="pt-BR" sz="9600" dirty="0">
                <a:latin typeface="Arial" panose="020B0604020202020204" pitchFamily="34" charset="0"/>
                <a:cs typeface="Arial" panose="020B0604020202020204" pitchFamily="34" charset="0"/>
              </a:rPr>
              <a:t>alcança a maior influência sobre IED em termos da decomposição da variância dos erros - e do PIB brasileiro.</a:t>
            </a:r>
          </a:p>
          <a:p>
            <a:pPr marL="0" indent="0" algn="just">
              <a:buNone/>
            </a:pPr>
            <a:r>
              <a:rPr lang="pt-BR" sz="9600" dirty="0">
                <a:latin typeface="Arial" panose="020B0604020202020204" pitchFamily="34" charset="0"/>
                <a:cs typeface="Arial" panose="020B0604020202020204" pitchFamily="34" charset="0"/>
              </a:rPr>
              <a:t>Entretanto, o segundo modelo revela que a resposta positiva do IED estende-se também às variáveis EMBI e ABERTURA, as quais são apontadas como maiores responsáveis pela influência sobre o IED na análise da decomposição da variância dos erros, como demonstrado na Tabela 6.</a:t>
            </a:r>
          </a:p>
          <a:p>
            <a:pPr marL="0" indent="0" algn="just">
              <a:buNone/>
            </a:pPr>
            <a:r>
              <a:rPr lang="pt-BR" sz="9600" dirty="0">
                <a:latin typeface="Arial" panose="020B0604020202020204" pitchFamily="34" charset="0"/>
                <a:cs typeface="Arial" panose="020B0604020202020204" pitchFamily="34" charset="0"/>
              </a:rPr>
              <a:t>Além disso, observou-se que o próprio IED responde positivamente aos seus impulsos nos primeiros períodos, decrescendo até atingir relativa estabilidade, no primeiro período relativo à decomposição da variância dos erros em ambos modelos, o IED é responsável pela totalidade da influência sobre a própria variável.</a:t>
            </a:r>
          </a:p>
          <a:p>
            <a:pPr marL="0" indent="0">
              <a:buNone/>
            </a:pPr>
            <a:endParaRPr lang="pt-BR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half" idx="1"/>
          </p:nvPr>
        </p:nvSpPr>
        <p:spPr>
          <a:xfrm>
            <a:off x="1008262" y="4579121"/>
            <a:ext cx="9541193" cy="2505878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just"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1. Introdução</a:t>
            </a:r>
          </a:p>
          <a:p>
            <a:pPr marL="0" lvl="0" indent="0" algn="just"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Como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parte fundamental do processo de internacionalização da produção brasileira, a presença do IDE e sua articulação na estrutura econômica local, regional e global demandam uma ampla compreensão de suas principais variáveis.  É possível que sua atuação leve a ganhos de escala, disseminação tecnológica além da elevação do potencial comercial e outras consequências importantes para o desenvolvimento econômico. Entretanto, há aspectos que exigem uma análise mais cuidadosa: a concentração de suas atividades em setores de </a:t>
            </a:r>
            <a:r>
              <a:rPr lang="pt-BR" i="1" dirty="0">
                <a:latin typeface="Arial" panose="020B0604020202020204" pitchFamily="34" charset="0"/>
                <a:cs typeface="Arial" panose="020B0604020202020204" pitchFamily="34" charset="0"/>
              </a:rPr>
              <a:t>non-</a:t>
            </a:r>
            <a:r>
              <a:rPr lang="pt-BR" i="1" dirty="0" err="1">
                <a:latin typeface="Arial" panose="020B0604020202020204" pitchFamily="34" charset="0"/>
                <a:cs typeface="Arial" panose="020B0604020202020204" pitchFamily="34" charset="0"/>
              </a:rPr>
              <a:t>tradables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, processos de fusões e aquisições e a questão da proteção à concorrência; sua participação no âmbito institucional e burocrático, permeando processos de regulamentação dos mercados bem como as estratégias relativas à inserção comercial internacional.</a:t>
            </a:r>
          </a:p>
          <a:p>
            <a:pPr marL="0" lvl="0" indent="0">
              <a:buNone/>
            </a:pPr>
            <a:endParaRPr lang="pt-BR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2. Objetivo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Este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estudo concentrou seus esforços na análise do período de 1995 a 2010, uma vez que  o processo de estabilização e abertura econômica levaria a uma crescente participação do capital estrangeiro no Brasil. </a:t>
            </a: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just"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3. Objetivo</a:t>
            </a: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fim de oferecer solidez e múltiplas visões sobre o tema, foram selecionados trabalhos empíricos de prestígio que permitiram explorar o referencial teórico de IDE e eleger as variáveis explicativas do modelo para a realização dos procedimentos econométricos.  Através do Modelo VAR (Vetores Auto Regressivos), foram obtidas as respostas da trajetória do IDE e a dispersão de seus erros em relação às variáveis explicativas. No primeiro modelo realizado, as variáveis de periodicidade mensal testadas foram: o Grau de Abertura da economia, o índice Dow Jones, o IPCA, a taxa SELIC e o PIB. No segundo modelo, foram incluídas as variáveis risco-País através do índice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EMBI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– JP Morgan e a taxa </a:t>
            </a:r>
            <a:r>
              <a:rPr lang="pt-BR" i="1" dirty="0">
                <a:latin typeface="Arial" panose="020B0604020202020204" pitchFamily="34" charset="0"/>
                <a:cs typeface="Arial" panose="020B0604020202020204" pitchFamily="34" charset="0"/>
              </a:rPr>
              <a:t>Federal </a:t>
            </a:r>
            <a:r>
              <a:rPr lang="pt-BR" i="1" dirty="0" err="1">
                <a:latin typeface="Arial" panose="020B0604020202020204" pitchFamily="34" charset="0"/>
                <a:cs typeface="Arial" panose="020B0604020202020204" pitchFamily="34" charset="0"/>
              </a:rPr>
              <a:t>Funds</a:t>
            </a:r>
            <a:r>
              <a:rPr lang="pt-BR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– Federal </a:t>
            </a:r>
            <a:r>
              <a:rPr lang="pt-BR" sz="9600" dirty="0">
                <a:latin typeface="Arial" panose="020B0604020202020204" pitchFamily="34" charset="0"/>
                <a:cs typeface="Arial" panose="020B0604020202020204" pitchFamily="34" charset="0"/>
              </a:rPr>
              <a:t>Reserve dos Estados Unidos, e excluído o IPCA.</a:t>
            </a:r>
          </a:p>
          <a:p>
            <a:pPr marL="0" indent="0" algn="just">
              <a:buNone/>
            </a:pPr>
            <a:endParaRPr lang="pt-BR" sz="9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pt-BR" sz="9600" dirty="0" smtClean="0">
                <a:latin typeface="Arial" panose="020B0604020202020204" pitchFamily="34" charset="0"/>
                <a:cs typeface="Arial" panose="020B0604020202020204" pitchFamily="34" charset="0"/>
              </a:rPr>
              <a:t>Uma </a:t>
            </a:r>
            <a:r>
              <a:rPr lang="pt-BR" sz="9600" dirty="0">
                <a:latin typeface="Arial" panose="020B0604020202020204" pitchFamily="34" charset="0"/>
                <a:cs typeface="Arial" panose="020B0604020202020204" pitchFamily="34" charset="0"/>
              </a:rPr>
              <a:t>vez que o modelo VAR exige que as variáveis sejam estacionárias, é necessário realizar o teste de raiz unitária, conforme o teste de </a:t>
            </a:r>
            <a:r>
              <a:rPr lang="pt-BR" sz="9600" dirty="0" err="1">
                <a:latin typeface="Arial" panose="020B0604020202020204" pitchFamily="34" charset="0"/>
                <a:cs typeface="Arial" panose="020B0604020202020204" pitchFamily="34" charset="0"/>
              </a:rPr>
              <a:t>Dickey-Fuller</a:t>
            </a:r>
            <a:r>
              <a:rPr lang="pt-BR" sz="9600" dirty="0">
                <a:latin typeface="Arial" panose="020B0604020202020204" pitchFamily="34" charset="0"/>
                <a:cs typeface="Arial" panose="020B0604020202020204" pitchFamily="34" charset="0"/>
              </a:rPr>
              <a:t> apresentado a seguir. O mérito dos valores críticos e todo o desenvolvimento do teste pode ser verificado na literatura, de acordo com </a:t>
            </a:r>
            <a:r>
              <a:rPr lang="pt-BR" sz="9600" dirty="0" err="1">
                <a:latin typeface="Arial" panose="020B0604020202020204" pitchFamily="34" charset="0"/>
                <a:cs typeface="Arial" panose="020B0604020202020204" pitchFamily="34" charset="0"/>
              </a:rPr>
              <a:t>Wooldridge</a:t>
            </a:r>
            <a:r>
              <a:rPr lang="pt-BR" sz="9600" dirty="0">
                <a:latin typeface="Arial" panose="020B0604020202020204" pitchFamily="34" charset="0"/>
                <a:cs typeface="Arial" panose="020B0604020202020204" pitchFamily="34" charset="0"/>
              </a:rPr>
              <a:t>(2010</a:t>
            </a:r>
            <a:r>
              <a:rPr lang="pt-BR" sz="96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0" indent="0" algn="just">
              <a:buNone/>
            </a:pPr>
            <a:endParaRPr lang="pt-BR" sz="9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sz="9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Verificou-se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 estabilidade do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Primeiro e do Segundo modelo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, conforme pode ser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observado, respectivamente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através do Gráfico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1 e 3,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no qual todas as raízes estão dentro do círculo unitário, sendo cada raiz pertencente a uma variável explicativa.</a:t>
            </a:r>
          </a:p>
          <a:p>
            <a:pPr marL="0" indent="0" algn="just"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Espaço Reservado para Rodapé 12"/>
          <p:cNvSpPr>
            <a:spLocks noGrp="1"/>
          </p:cNvSpPr>
          <p:nvPr>
            <p:ph type="ftr" sz="quarter" idx="11"/>
          </p:nvPr>
        </p:nvSpPr>
        <p:spPr>
          <a:xfrm>
            <a:off x="-6120530" y="24338929"/>
            <a:ext cx="9073007" cy="1725214"/>
          </a:xfrm>
        </p:spPr>
        <p:txBody>
          <a:bodyPr/>
          <a:lstStyle/>
          <a:p>
            <a:r>
              <a:rPr lang="pt-BR" dirty="0" smtClean="0"/>
              <a:t>         </a:t>
            </a:r>
            <a:endParaRPr lang="pt-BR" dirty="0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1390" y="7171408"/>
            <a:ext cx="8856983" cy="3642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1391" y="16244416"/>
            <a:ext cx="8751544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etângulo 13"/>
          <p:cNvSpPr/>
          <p:nvPr/>
        </p:nvSpPr>
        <p:spPr>
          <a:xfrm>
            <a:off x="11161390" y="16892488"/>
            <a:ext cx="8745425" cy="2160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35" name="Picture 11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671" b="8569"/>
          <a:stretch/>
        </p:blipFill>
        <p:spPr bwMode="auto">
          <a:xfrm>
            <a:off x="1224287" y="25587656"/>
            <a:ext cx="5519413" cy="4871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294" y="19431942"/>
            <a:ext cx="9073007" cy="3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604"/>
          <a:stretch/>
        </p:blipFill>
        <p:spPr bwMode="auto">
          <a:xfrm>
            <a:off x="6133265" y="25587656"/>
            <a:ext cx="4392489" cy="4871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CaixaDeTexto 30"/>
          <p:cNvSpPr txBox="1"/>
          <p:nvPr/>
        </p:nvSpPr>
        <p:spPr>
          <a:xfrm>
            <a:off x="12807797" y="30684344"/>
            <a:ext cx="7223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800" b="1" dirty="0" smtClean="0">
                <a:latin typeface="Geometr415 Lt BT" panose="020B0502020204020303" pitchFamily="34" charset="0"/>
              </a:rPr>
              <a:t>Orientador: Prof. Dr. Raphael Almeida Videira</a:t>
            </a:r>
            <a:endParaRPr lang="pt-BR" sz="2800" b="1" dirty="0">
              <a:latin typeface="Geometr415 Lt BT" panose="020B0502020204020303" pitchFamily="34" charset="0"/>
            </a:endParaRPr>
          </a:p>
        </p:txBody>
      </p:sp>
      <p:sp>
        <p:nvSpPr>
          <p:cNvPr id="32" name="CaixaDeTexto 31"/>
          <p:cNvSpPr txBox="1"/>
          <p:nvPr/>
        </p:nvSpPr>
        <p:spPr>
          <a:xfrm>
            <a:off x="15317266" y="29739529"/>
            <a:ext cx="47135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800" b="1" dirty="0" smtClean="0">
                <a:latin typeface="Geometr415 Lt BT" panose="020B0502020204020303" pitchFamily="34" charset="0"/>
              </a:rPr>
              <a:t>Aluno: Fernando Barbosa</a:t>
            </a:r>
          </a:p>
          <a:p>
            <a:pPr algn="r"/>
            <a:r>
              <a:rPr lang="pt-BR" sz="2800" dirty="0">
                <a:latin typeface="Geometr415 Lt BT" panose="020B0502020204020303" pitchFamily="34" charset="0"/>
              </a:rPr>
              <a:t>f</a:t>
            </a:r>
            <a:r>
              <a:rPr lang="pt-BR" sz="2800" dirty="0" smtClean="0">
                <a:latin typeface="Geometr415 Lt BT" panose="020B0502020204020303" pitchFamily="34" charset="0"/>
              </a:rPr>
              <a:t>ernando.liaison@gmail.com</a:t>
            </a:r>
            <a:endParaRPr lang="pt-BR" sz="2800" dirty="0">
              <a:latin typeface="Geometr415 Lt BT" panose="020B0502020204020303" pitchFamily="34" charset="0"/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11953478" y="31220457"/>
            <a:ext cx="81692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3200" b="1" dirty="0" smtClean="0">
                <a:latin typeface="Geometr415 Lt BT" panose="020B0502020204020303" pitchFamily="34" charset="0"/>
              </a:rPr>
              <a:t>Pontifícia Universidade Católica de São Paulo</a:t>
            </a:r>
          </a:p>
        </p:txBody>
      </p:sp>
    </p:spTree>
    <p:extLst>
      <p:ext uri="{BB962C8B-B14F-4D97-AF65-F5344CB8AC3E}">
        <p14:creationId xmlns:p14="http://schemas.microsoft.com/office/powerpoint/2010/main" val="235682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157</Words>
  <Application>Microsoft Office PowerPoint</Application>
  <PresentationFormat>Personalizar</PresentationFormat>
  <Paragraphs>71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DETERMINANTES DO INVESTIMENTO ESTRANGEIRO DIRETO NO BRASIL NO PERÍODO DE 1995 A 2010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DETERMINANTES DO INVESTIMENTO ESTRANGEIRO DIRETO NO BRASIL NO PERÍODO DE 1995 A 2010</dc:title>
  <dc:creator>Admin</dc:creator>
  <cp:lastModifiedBy>Admin</cp:lastModifiedBy>
  <cp:revision>7</cp:revision>
  <dcterms:created xsi:type="dcterms:W3CDTF">2013-11-02T14:34:14Z</dcterms:created>
  <dcterms:modified xsi:type="dcterms:W3CDTF">2013-11-02T15:46:22Z</dcterms:modified>
</cp:coreProperties>
</file>